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35" d="100"/>
          <a:sy n="135" d="100"/>
        </p:scale>
        <p:origin x="96" y="37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000000"/>
                </a:solidFill>
              </a:defRPr>
            </a:pPr>
            <a:r>
              <a:t>SP-3000-148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86965" y="3474720"/>
            <a:ext cx="5170069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404040"/>
                </a:solidFill>
              </a:defRPr>
            </a:pPr>
            <a:r>
              <a:rPr lang="sv-SE" dirty="0"/>
              <a:t>DC48V → AC100V 3000W Inverter
Detailed System Block Diagram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0000"/>
                </a:solidFill>
              </a:defRPr>
            </a:pPr>
            <a:r>
              <a:rPr lang="en-US"/>
              <a:t>Overall System Block Diagram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5565325" y="1070480"/>
            <a:ext cx="2771096" cy="548640"/>
          </a:xfrm>
          <a:prstGeom prst="rect">
            <a:avLst/>
          </a:prstGeom>
          <a:solidFill>
            <a:srgbClr val="C8C8C8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rPr lang="en-US" dirty="0"/>
              <a:t>Front panel board
DIP-SW / LED/TRC port (RJ-45) / P-Sav adjustment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5639063" y="1829707"/>
            <a:ext cx="8265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0000"/>
                </a:solidFill>
              </a:defRPr>
            </a:pPr>
            <a:r>
              <a:rPr sz="1000" b="1" dirty="0">
                <a:latin typeface="+mj-lt"/>
              </a:rPr>
              <a:t>CN3(16P)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560275" y="2911998"/>
            <a:ext cx="0" cy="36576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064276" y="2907868"/>
            <a:ext cx="3566160" cy="1097280"/>
          </a:xfrm>
          <a:prstGeom prst="rect">
            <a:avLst/>
          </a:prstGeom>
          <a:solidFill>
            <a:srgbClr val="F0F0F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rPr lang="en-US" dirty="0"/>
              <a:t>Upper Power Board
DC/DC Step-Up / High-Frequency Transformer
H-Bridge PWM / LC Filter</a:t>
            </a:r>
            <a:endParaRPr dirty="0"/>
          </a:p>
        </p:txBody>
      </p:sp>
      <p:cxnSp>
        <p:nvCxnSpPr>
          <p:cNvPr id="9" name="Connector 8"/>
          <p:cNvCxnSpPr/>
          <p:nvPr/>
        </p:nvCxnSpPr>
        <p:spPr>
          <a:xfrm>
            <a:off x="961156" y="6049886"/>
            <a:ext cx="2103120" cy="0"/>
          </a:xfrm>
          <a:prstGeom prst="line">
            <a:avLst/>
          </a:prstGeom>
          <a:ln w="317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97840" y="5779958"/>
            <a:ext cx="1371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0000"/>
                </a:solidFill>
              </a:defRPr>
            </a:pPr>
            <a:r>
              <a:rPr lang="en-US" sz="1200" dirty="0"/>
              <a:t>DC48V input</a:t>
            </a:r>
            <a:endParaRPr sz="1200" dirty="0"/>
          </a:p>
        </p:txBody>
      </p:sp>
      <p:cxnSp>
        <p:nvCxnSpPr>
          <p:cNvPr id="11" name="Connector 10"/>
          <p:cNvCxnSpPr/>
          <p:nvPr/>
        </p:nvCxnSpPr>
        <p:spPr>
          <a:xfrm>
            <a:off x="6630436" y="3864623"/>
            <a:ext cx="1645920" cy="0"/>
          </a:xfrm>
          <a:prstGeom prst="line">
            <a:avLst/>
          </a:prstGeom>
          <a:ln w="317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179076" y="3594695"/>
            <a:ext cx="1371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0000"/>
                </a:solidFill>
              </a:defRPr>
            </a:pPr>
            <a:r>
              <a:rPr lang="en-US" sz="1200" dirty="0"/>
              <a:t>AC100V Output</a:t>
            </a:r>
            <a:endParaRPr sz="1200" dirty="0"/>
          </a:p>
        </p:txBody>
      </p:sp>
      <p:sp>
        <p:nvSpPr>
          <p:cNvPr id="14" name="TextBox 13"/>
          <p:cNvSpPr txBox="1"/>
          <p:nvPr/>
        </p:nvSpPr>
        <p:spPr>
          <a:xfrm>
            <a:off x="6968299" y="4795358"/>
            <a:ext cx="137592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00000"/>
                </a:solidFill>
              </a:defRPr>
            </a:pPr>
            <a:r>
              <a:rPr lang="en-US" altLang="ja-JP" sz="1000" b="1">
                <a:latin typeface="+mj-lt"/>
              </a:rPr>
              <a:t>Busbar connection</a:t>
            </a:r>
            <a:endParaRPr sz="1000" b="1" dirty="0">
              <a:latin typeface="+mj-lt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55108" y="2621668"/>
            <a:ext cx="1903193" cy="550704"/>
          </a:xfrm>
          <a:prstGeom prst="rect">
            <a:avLst/>
          </a:prstGeom>
          <a:solidFill>
            <a:srgbClr val="C8C8C8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rPr lang="en-US" dirty="0"/>
              <a:t>Rear panel board
Remote port (RJ-11) / RC port</a:t>
            </a:r>
            <a:endParaRPr dirty="0"/>
          </a:p>
        </p:txBody>
      </p:sp>
      <p:cxnSp>
        <p:nvCxnSpPr>
          <p:cNvPr id="16" name="Connector 15"/>
          <p:cNvCxnSpPr>
            <a:cxnSpLocks/>
          </p:cNvCxnSpPr>
          <p:nvPr/>
        </p:nvCxnSpPr>
        <p:spPr>
          <a:xfrm flipH="1">
            <a:off x="2607076" y="3045158"/>
            <a:ext cx="544246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>
            <a:cxnSpLocks/>
          </p:cNvCxnSpPr>
          <p:nvPr/>
        </p:nvCxnSpPr>
        <p:spPr>
          <a:xfrm>
            <a:off x="2728732" y="3849131"/>
            <a:ext cx="0" cy="2198177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3064276" y="5100363"/>
            <a:ext cx="3566160" cy="1097280"/>
          </a:xfrm>
          <a:prstGeom prst="rect">
            <a:avLst/>
          </a:prstGeom>
          <a:solidFill>
            <a:srgbClr val="F0F0F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rPr lang="en-US"/>
              <a:t>Lower power board
DC/DC Step-Up / High-Frequency Transformer
H-Bridge PWM / LC Filter</a:t>
            </a:r>
            <a:endParaRPr dirty="0"/>
          </a:p>
        </p:txBody>
      </p:sp>
      <p:cxnSp>
        <p:nvCxnSpPr>
          <p:cNvPr id="21" name="Connector 20"/>
          <p:cNvCxnSpPr/>
          <p:nvPr/>
        </p:nvCxnSpPr>
        <p:spPr>
          <a:xfrm>
            <a:off x="45720" y="5303520"/>
            <a:ext cx="0" cy="0"/>
          </a:xfrm>
          <a:prstGeom prst="line">
            <a:avLst/>
          </a:prstGeom>
          <a:ln w="317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930121" y="4115578"/>
            <a:ext cx="184172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000000"/>
                </a:solidFill>
              </a:defRPr>
            </a:pPr>
            <a:r>
              <a:rPr lang="en-US" sz="1000" b="1" dirty="0">
                <a:latin typeface="+mj-lt"/>
              </a:rPr>
              <a:t>CN2 (8P) communication</a:t>
            </a:r>
            <a:endParaRPr sz="1000" b="1" dirty="0">
              <a:latin typeface="+mj-lt"/>
            </a:endParaRPr>
          </a:p>
        </p:txBody>
      </p:sp>
      <p:sp>
        <p:nvSpPr>
          <p:cNvPr id="24" name="Rectangle 2">
            <a:extLst>
              <a:ext uri="{FF2B5EF4-FFF2-40B4-BE49-F238E27FC236}">
                <a16:creationId xmlns:a16="http://schemas.microsoft.com/office/drawing/2014/main" id="{DC3455FA-EAF4-3D02-9284-496DB4E107D7}"/>
              </a:ext>
            </a:extLst>
          </p:cNvPr>
          <p:cNvSpPr/>
          <p:nvPr/>
        </p:nvSpPr>
        <p:spPr>
          <a:xfrm>
            <a:off x="7216671" y="2621668"/>
            <a:ext cx="1119750" cy="548640"/>
          </a:xfrm>
          <a:prstGeom prst="rect">
            <a:avLst/>
          </a:prstGeom>
          <a:solidFill>
            <a:srgbClr val="C8C8C8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rPr lang="en-US" dirty="0"/>
              <a:t>front panel
Power Supply - SW</a:t>
            </a:r>
            <a:endParaRPr dirty="0"/>
          </a:p>
        </p:txBody>
      </p:sp>
      <p:cxnSp>
        <p:nvCxnSpPr>
          <p:cNvPr id="25" name="Connector 3">
            <a:extLst>
              <a:ext uri="{FF2B5EF4-FFF2-40B4-BE49-F238E27FC236}">
                <a16:creationId xmlns:a16="http://schemas.microsoft.com/office/drawing/2014/main" id="{C415C428-9606-CFB5-7C66-C0E018278ED9}"/>
              </a:ext>
            </a:extLst>
          </p:cNvPr>
          <p:cNvCxnSpPr>
            <a:cxnSpLocks/>
          </p:cNvCxnSpPr>
          <p:nvPr/>
        </p:nvCxnSpPr>
        <p:spPr>
          <a:xfrm flipH="1">
            <a:off x="6465643" y="3045158"/>
            <a:ext cx="865055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4">
            <a:extLst>
              <a:ext uri="{FF2B5EF4-FFF2-40B4-BE49-F238E27FC236}">
                <a16:creationId xmlns:a16="http://schemas.microsoft.com/office/drawing/2014/main" id="{9100A78F-394E-B7E6-1CC8-AE3074BB2022}"/>
              </a:ext>
            </a:extLst>
          </p:cNvPr>
          <p:cNvSpPr txBox="1"/>
          <p:nvPr/>
        </p:nvSpPr>
        <p:spPr>
          <a:xfrm>
            <a:off x="6760767" y="2814280"/>
            <a:ext cx="50948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0000"/>
                </a:solidFill>
              </a:defRPr>
            </a:pPr>
            <a:r>
              <a:rPr sz="1000" b="1" dirty="0">
                <a:latin typeface="+mj-lt"/>
              </a:rPr>
              <a:t>(</a:t>
            </a:r>
            <a:r>
              <a:rPr lang="en-US" sz="1000" b="1" dirty="0">
                <a:latin typeface="+mj-lt"/>
              </a:rPr>
              <a:t>3</a:t>
            </a:r>
            <a:r>
              <a:rPr sz="1000" b="1" dirty="0">
                <a:latin typeface="+mj-lt"/>
              </a:rPr>
              <a:t>P)</a:t>
            </a:r>
          </a:p>
        </p:txBody>
      </p:sp>
      <p:cxnSp>
        <p:nvCxnSpPr>
          <p:cNvPr id="32" name="Connector 8">
            <a:extLst>
              <a:ext uri="{FF2B5EF4-FFF2-40B4-BE49-F238E27FC236}">
                <a16:creationId xmlns:a16="http://schemas.microsoft.com/office/drawing/2014/main" id="{9898719E-ED03-AD1C-EACB-5B013DDEEF70}"/>
              </a:ext>
            </a:extLst>
          </p:cNvPr>
          <p:cNvCxnSpPr>
            <a:cxnSpLocks/>
          </p:cNvCxnSpPr>
          <p:nvPr/>
        </p:nvCxnSpPr>
        <p:spPr>
          <a:xfrm>
            <a:off x="2735711" y="3862054"/>
            <a:ext cx="328565" cy="0"/>
          </a:xfrm>
          <a:prstGeom prst="line">
            <a:avLst/>
          </a:prstGeom>
          <a:ln w="317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18">
            <a:extLst>
              <a:ext uri="{FF2B5EF4-FFF2-40B4-BE49-F238E27FC236}">
                <a16:creationId xmlns:a16="http://schemas.microsoft.com/office/drawing/2014/main" id="{007D423C-1CE1-F222-ED47-61C636D725EC}"/>
              </a:ext>
            </a:extLst>
          </p:cNvPr>
          <p:cNvCxnSpPr>
            <a:cxnSpLocks/>
          </p:cNvCxnSpPr>
          <p:nvPr/>
        </p:nvCxnSpPr>
        <p:spPr>
          <a:xfrm>
            <a:off x="6962359" y="3864623"/>
            <a:ext cx="0" cy="2198177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8">
            <a:extLst>
              <a:ext uri="{FF2B5EF4-FFF2-40B4-BE49-F238E27FC236}">
                <a16:creationId xmlns:a16="http://schemas.microsoft.com/office/drawing/2014/main" id="{BEFC5915-F66D-7302-9E80-16D3580E6003}"/>
              </a:ext>
            </a:extLst>
          </p:cNvPr>
          <p:cNvCxnSpPr>
            <a:cxnSpLocks/>
          </p:cNvCxnSpPr>
          <p:nvPr/>
        </p:nvCxnSpPr>
        <p:spPr>
          <a:xfrm>
            <a:off x="6633546" y="6062800"/>
            <a:ext cx="328565" cy="0"/>
          </a:xfrm>
          <a:prstGeom prst="line">
            <a:avLst/>
          </a:prstGeom>
          <a:ln w="317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13">
            <a:extLst>
              <a:ext uri="{FF2B5EF4-FFF2-40B4-BE49-F238E27FC236}">
                <a16:creationId xmlns:a16="http://schemas.microsoft.com/office/drawing/2014/main" id="{33309FB4-84CC-5BCB-2631-F3F9921BC7AA}"/>
              </a:ext>
            </a:extLst>
          </p:cNvPr>
          <p:cNvSpPr txBox="1"/>
          <p:nvPr/>
        </p:nvSpPr>
        <p:spPr>
          <a:xfrm>
            <a:off x="1354929" y="4761466"/>
            <a:ext cx="137592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00000"/>
                </a:solidFill>
              </a:defRPr>
            </a:pPr>
            <a:r>
              <a:rPr lang="en-US" altLang="ja-JP" sz="1000" b="1" dirty="0">
                <a:latin typeface="+mj-lt"/>
              </a:rPr>
              <a:t>Busbar connection</a:t>
            </a:r>
            <a:endParaRPr sz="1000" b="1" dirty="0">
              <a:latin typeface="+mj-lt"/>
            </a:endParaRPr>
          </a:p>
        </p:txBody>
      </p:sp>
      <p:cxnSp>
        <p:nvCxnSpPr>
          <p:cNvPr id="43" name="Connector 3">
            <a:extLst>
              <a:ext uri="{FF2B5EF4-FFF2-40B4-BE49-F238E27FC236}">
                <a16:creationId xmlns:a16="http://schemas.microsoft.com/office/drawing/2014/main" id="{FFC0EE61-FE1C-DB82-C382-A04B1153C605}"/>
              </a:ext>
            </a:extLst>
          </p:cNvPr>
          <p:cNvCxnSpPr>
            <a:cxnSpLocks/>
          </p:cNvCxnSpPr>
          <p:nvPr/>
        </p:nvCxnSpPr>
        <p:spPr>
          <a:xfrm>
            <a:off x="6271912" y="3045158"/>
            <a:ext cx="0" cy="2229432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">
            <a:extLst>
              <a:ext uri="{FF2B5EF4-FFF2-40B4-BE49-F238E27FC236}">
                <a16:creationId xmlns:a16="http://schemas.microsoft.com/office/drawing/2014/main" id="{C9DFA94B-9B9C-A086-0F73-B582FCDACA49}"/>
              </a:ext>
            </a:extLst>
          </p:cNvPr>
          <p:cNvSpPr txBox="1"/>
          <p:nvPr/>
        </p:nvSpPr>
        <p:spPr>
          <a:xfrm>
            <a:off x="6262487" y="4115578"/>
            <a:ext cx="50948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0000"/>
                </a:solidFill>
              </a:defRPr>
            </a:pPr>
            <a:r>
              <a:rPr sz="1000" b="1" dirty="0">
                <a:latin typeface="+mj-lt"/>
              </a:rPr>
              <a:t>(</a:t>
            </a:r>
            <a:r>
              <a:rPr lang="en-US" sz="1000" b="1" dirty="0">
                <a:latin typeface="+mj-lt"/>
              </a:rPr>
              <a:t>3</a:t>
            </a:r>
            <a:r>
              <a:rPr sz="1000" b="1" dirty="0">
                <a:latin typeface="+mj-lt"/>
              </a:rPr>
              <a:t>P)</a:t>
            </a:r>
          </a:p>
        </p:txBody>
      </p:sp>
      <p:sp>
        <p:nvSpPr>
          <p:cNvPr id="6" name="Rectangle 5"/>
          <p:cNvSpPr/>
          <p:nvPr/>
        </p:nvSpPr>
        <p:spPr>
          <a:xfrm>
            <a:off x="3826011" y="2273466"/>
            <a:ext cx="1891055" cy="731520"/>
          </a:xfrm>
          <a:prstGeom prst="rect">
            <a:avLst/>
          </a:prstGeom>
          <a:solidFill>
            <a:srgbClr val="DCDCDC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rPr lang="en-US" dirty="0"/>
              <a:t>Upper Control Board
66-BA97-2101
MCU / DIP=010 / Buzzer</a:t>
            </a:r>
            <a:endParaRPr dirty="0"/>
          </a:p>
        </p:txBody>
      </p:sp>
      <p:sp>
        <p:nvSpPr>
          <p:cNvPr id="18" name="Rectangle 17"/>
          <p:cNvSpPr/>
          <p:nvPr/>
        </p:nvSpPr>
        <p:spPr>
          <a:xfrm>
            <a:off x="3826012" y="4480231"/>
            <a:ext cx="1891054" cy="731520"/>
          </a:xfrm>
          <a:prstGeom prst="rect">
            <a:avLst/>
          </a:prstGeom>
          <a:solidFill>
            <a:srgbClr val="DCDCDC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rPr lang="en-US" dirty="0"/>
              <a:t>Lower control board
66-BA97-2101
MCU / DIP=001 / Buzzer</a:t>
            </a:r>
            <a:endParaRPr lang="ja-JP" altLang="en-US" dirty="0"/>
          </a:p>
        </p:txBody>
      </p:sp>
      <p:cxnSp>
        <p:nvCxnSpPr>
          <p:cNvPr id="22" name="Connector 21"/>
          <p:cNvCxnSpPr>
            <a:cxnSpLocks/>
          </p:cNvCxnSpPr>
          <p:nvPr/>
        </p:nvCxnSpPr>
        <p:spPr>
          <a:xfrm flipV="1">
            <a:off x="3936061" y="2383896"/>
            <a:ext cx="0" cy="2243895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>
            <a:cxnSpLocks/>
          </p:cNvCxnSpPr>
          <p:nvPr/>
        </p:nvCxnSpPr>
        <p:spPr>
          <a:xfrm>
            <a:off x="5639063" y="1503336"/>
            <a:ext cx="0" cy="88056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49817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0000"/>
                </a:solidFill>
              </a:defRPr>
            </a:pPr>
            <a:r>
              <a:rPr lang="en-US"/>
              <a:t>Control Configuration and Communication Flow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1252777" y="1005840"/>
            <a:ext cx="17668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0000"/>
                </a:solidFill>
              </a:defRPr>
            </a:pPr>
            <a:r>
              <a:rPr lang="en-US"/>
              <a:t>[Upper System]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1069898" y="1371600"/>
            <a:ext cx="2011680" cy="640080"/>
          </a:xfrm>
          <a:prstGeom prst="rect">
            <a:avLst/>
          </a:prstGeom>
          <a:solidFill>
            <a:srgbClr val="DCDCDC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rPr lang="en-US"/>
              <a:t>Upper Control Board
(Master)
MCU DIP=010</a:t>
            </a:r>
            <a:endParaRPr/>
          </a:p>
        </p:txBody>
      </p:sp>
      <p:cxnSp>
        <p:nvCxnSpPr>
          <p:cNvPr id="5" name="Connector 4"/>
          <p:cNvCxnSpPr/>
          <p:nvPr/>
        </p:nvCxnSpPr>
        <p:spPr>
          <a:xfrm>
            <a:off x="2075738" y="2011680"/>
            <a:ext cx="0" cy="27432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069898" y="2286000"/>
            <a:ext cx="2011680" cy="640080"/>
          </a:xfrm>
          <a:prstGeom prst="rect">
            <a:avLst/>
          </a:prstGeom>
          <a:solidFill>
            <a:srgbClr val="F0F0F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rPr lang="en-US"/>
              <a:t>Upper Power Board
PWM Control
Boost and Reverse Conversion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3423059" y="1483189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rPr dirty="0"/>
              <a:t>CN2(8P)</a:t>
            </a:r>
            <a:r>
              <a:rPr dirty="0" err="1"/>
              <a:t>通信</a:t>
            </a:r>
            <a:endParaRPr dirty="0"/>
          </a:p>
        </p:txBody>
      </p:sp>
      <p:cxnSp>
        <p:nvCxnSpPr>
          <p:cNvPr id="8" name="Connector 7"/>
          <p:cNvCxnSpPr/>
          <p:nvPr/>
        </p:nvCxnSpPr>
        <p:spPr>
          <a:xfrm>
            <a:off x="3069698" y="1783080"/>
            <a:ext cx="1280160" cy="0"/>
          </a:xfrm>
          <a:prstGeom prst="line">
            <a:avLst/>
          </a:prstGeom>
          <a:ln w="317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252577" y="2103120"/>
            <a:ext cx="262893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00000"/>
                </a:solidFill>
              </a:defRPr>
            </a:pPr>
            <a:r>
              <a:rPr lang="en-US" sz="1600"/>
              <a:t>・Synchronization signals
・Current sharing
・Abnormal notifications</a:t>
            </a:r>
            <a:endParaRPr sz="1600" dirty="0"/>
          </a:p>
        </p:txBody>
      </p:sp>
      <p:cxnSp>
        <p:nvCxnSpPr>
          <p:cNvPr id="10" name="Connector 9"/>
          <p:cNvCxnSpPr/>
          <p:nvPr/>
        </p:nvCxnSpPr>
        <p:spPr>
          <a:xfrm>
            <a:off x="4349858" y="1783080"/>
            <a:ext cx="1280160" cy="0"/>
          </a:xfrm>
          <a:prstGeom prst="line">
            <a:avLst/>
          </a:prstGeom>
          <a:ln w="317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822203" y="1005840"/>
            <a:ext cx="17668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0000"/>
                </a:solidFill>
              </a:defRPr>
            </a:pPr>
            <a:r>
              <a:rPr lang="en-US"/>
              <a:t>[Lower Tier System]</a:t>
            </a:r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39324" y="1371600"/>
            <a:ext cx="2011680" cy="640080"/>
          </a:xfrm>
          <a:prstGeom prst="rect">
            <a:avLst/>
          </a:prstGeom>
          <a:solidFill>
            <a:srgbClr val="DCDCDC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rPr lang="en-US"/>
              <a:t>Lower control board
(Slave)
MCU DIP=001</a:t>
            </a:r>
            <a:endParaRPr/>
          </a:p>
        </p:txBody>
      </p:sp>
      <p:cxnSp>
        <p:nvCxnSpPr>
          <p:cNvPr id="13" name="Connector 12"/>
          <p:cNvCxnSpPr/>
          <p:nvPr/>
        </p:nvCxnSpPr>
        <p:spPr>
          <a:xfrm>
            <a:off x="6645164" y="2011680"/>
            <a:ext cx="0" cy="27432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5639324" y="2286000"/>
            <a:ext cx="2011680" cy="640080"/>
          </a:xfrm>
          <a:prstGeom prst="rect">
            <a:avLst/>
          </a:prstGeom>
          <a:solidFill>
            <a:srgbClr val="F0F0F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rPr lang="en-US"/>
              <a:t>Lower power board
PWM Control
Boost and Reverse Conversion</a:t>
            </a:r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3187485"/>
            <a:ext cx="82296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00000"/>
                </a:solidFill>
              </a:defRPr>
            </a:pPr>
            <a:r>
              <a:rPr lang="en-US" sz="1600" dirty="0"/>
              <a:t>■ Control Flow Details</a:t>
            </a:r>
          </a:p>
          <a:p>
            <a:pPr>
              <a:defRPr sz="1000" b="0">
                <a:solidFill>
                  <a:srgbClr val="000000"/>
                </a:solidFill>
              </a:defRPr>
            </a:pPr>
            <a:r>
              <a:rPr lang="en-US" sz="1600" dirty="0"/>
              <a:t>
1. Power Control: Simultaneous ON/OFF of power to upper and lower levels via the front panel power SW
2. Input Power Distribution: DC48V input is distributed between upper and lower stages, with independent voltage boost and reverse conversion performed at each stage.
3. Synchronization control: The CN2 communication line synchronizes the upper stage (master) with the lower stage (slave)
   - PWM frequency and phase synchronization
   - Equal distribution of output current (parallel operation)
   - Simultaneous shutdown upon anomaly detection
4. Output synthesis: Parallel AC100V output in two stages to supply up to 3000W of power
5. Protection function: Buzzer alerts abnormalities in cases of overcurrent, overtemperature, or low input voltage</a:t>
            </a:r>
            <a:endParaRPr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0000"/>
                </a:solidFill>
              </a:defRPr>
            </a:pPr>
            <a:r>
              <a:rPr lang="en-US"/>
              <a:t>Power flow configuration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274320" y="819860"/>
            <a:ext cx="25253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0000"/>
                </a:solidFill>
              </a:defRPr>
            </a:pPr>
            <a:r>
              <a:rPr lang="en-US"/>
              <a:t>[Top Level: Power Flow]</a:t>
            </a:r>
            <a:endParaRPr dirty="0"/>
          </a:p>
        </p:txBody>
      </p:sp>
      <p:cxnSp>
        <p:nvCxnSpPr>
          <p:cNvPr id="4" name="Connector 3"/>
          <p:cNvCxnSpPr/>
          <p:nvPr/>
        </p:nvCxnSpPr>
        <p:spPr>
          <a:xfrm>
            <a:off x="457200" y="1463040"/>
            <a:ext cx="914400" cy="0"/>
          </a:xfrm>
          <a:prstGeom prst="line">
            <a:avLst/>
          </a:prstGeom>
          <a:ln w="317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82806" y="1218168"/>
            <a:ext cx="16459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0000"/>
                </a:solidFill>
              </a:defRPr>
            </a:pPr>
            <a:r>
              <a:rPr lang="en-US"/>
              <a:t>DC48V input</a:t>
            </a: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1371600" y="1280160"/>
            <a:ext cx="1188720" cy="365760"/>
          </a:xfrm>
          <a:prstGeom prst="rect">
            <a:avLst/>
          </a:prstGeom>
          <a:solidFill>
            <a:srgbClr val="E6E6E6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rPr lang="en-US"/>
              <a:t>DC/DC Boost</a:t>
            </a:r>
            <a:endParaRPr/>
          </a:p>
        </p:txBody>
      </p:sp>
      <p:cxnSp>
        <p:nvCxnSpPr>
          <p:cNvPr id="7" name="Connector 6"/>
          <p:cNvCxnSpPr/>
          <p:nvPr/>
        </p:nvCxnSpPr>
        <p:spPr>
          <a:xfrm>
            <a:off x="2560320" y="1463040"/>
            <a:ext cx="64008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200400" y="1280160"/>
            <a:ext cx="1188720" cy="365760"/>
          </a:xfrm>
          <a:prstGeom prst="rect">
            <a:avLst/>
          </a:prstGeom>
          <a:solidFill>
            <a:srgbClr val="E6E6E6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rPr lang="en-US"/>
              <a:t>High frequency
Trans</a:t>
            </a:r>
            <a:endParaRPr/>
          </a:p>
        </p:txBody>
      </p:sp>
      <p:cxnSp>
        <p:nvCxnSpPr>
          <p:cNvPr id="9" name="Connector 8"/>
          <p:cNvCxnSpPr/>
          <p:nvPr/>
        </p:nvCxnSpPr>
        <p:spPr>
          <a:xfrm>
            <a:off x="4389120" y="1463040"/>
            <a:ext cx="45720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846320" y="1280160"/>
            <a:ext cx="914400" cy="365760"/>
          </a:xfrm>
          <a:prstGeom prst="rect">
            <a:avLst/>
          </a:prstGeom>
          <a:solidFill>
            <a:srgbClr val="E6E6E6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rPr lang="en-US"/>
              <a:t>H-Bridge
PWM</a:t>
            </a:r>
            <a:endParaRPr/>
          </a:p>
        </p:txBody>
      </p:sp>
      <p:cxnSp>
        <p:nvCxnSpPr>
          <p:cNvPr id="11" name="Connector 10"/>
          <p:cNvCxnSpPr/>
          <p:nvPr/>
        </p:nvCxnSpPr>
        <p:spPr>
          <a:xfrm>
            <a:off x="5760720" y="1463040"/>
            <a:ext cx="64008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6400800" y="1280160"/>
            <a:ext cx="1097280" cy="365760"/>
          </a:xfrm>
          <a:prstGeom prst="rect">
            <a:avLst/>
          </a:prstGeom>
          <a:solidFill>
            <a:srgbClr val="E6E6E6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rPr lang="en-US"/>
              <a:t>LC filter</a:t>
            </a:r>
            <a:endParaRPr/>
          </a:p>
        </p:txBody>
      </p:sp>
      <p:cxnSp>
        <p:nvCxnSpPr>
          <p:cNvPr id="13" name="Connector 12"/>
          <p:cNvCxnSpPr/>
          <p:nvPr/>
        </p:nvCxnSpPr>
        <p:spPr>
          <a:xfrm>
            <a:off x="7498079" y="1463040"/>
            <a:ext cx="548641" cy="0"/>
          </a:xfrm>
          <a:prstGeom prst="line">
            <a:avLst/>
          </a:prstGeom>
          <a:ln w="317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010039" y="1233666"/>
            <a:ext cx="10972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0000"/>
                </a:solidFill>
              </a:defRPr>
            </a:pPr>
            <a:r>
              <a:rPr lang="en-US" sz="1000"/>
              <a:t>AC100V Output
Up to 1500W</a:t>
            </a:r>
            <a:endParaRPr sz="1000" dirty="0"/>
          </a:p>
        </p:txBody>
      </p:sp>
      <p:sp>
        <p:nvSpPr>
          <p:cNvPr id="15" name="TextBox 14"/>
          <p:cNvSpPr txBox="1"/>
          <p:nvPr/>
        </p:nvSpPr>
        <p:spPr>
          <a:xfrm>
            <a:off x="274319" y="1917140"/>
            <a:ext cx="258176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0000"/>
                </a:solidFill>
              </a:defRPr>
            </a:pPr>
            <a:r>
              <a:rPr lang="en-US"/>
              <a:t>[Bottom Section: Power Flow]</a:t>
            </a:r>
            <a:endParaRPr dirty="0"/>
          </a:p>
        </p:txBody>
      </p:sp>
      <p:cxnSp>
        <p:nvCxnSpPr>
          <p:cNvPr id="16" name="Connector 15"/>
          <p:cNvCxnSpPr/>
          <p:nvPr/>
        </p:nvCxnSpPr>
        <p:spPr>
          <a:xfrm>
            <a:off x="457200" y="2560320"/>
            <a:ext cx="914400" cy="0"/>
          </a:xfrm>
          <a:prstGeom prst="line">
            <a:avLst/>
          </a:prstGeom>
          <a:ln w="317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82806" y="2315448"/>
            <a:ext cx="16459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0000"/>
                </a:solidFill>
              </a:defRPr>
            </a:pPr>
            <a:r>
              <a:rPr lang="en-US"/>
              <a:t>DC48V input</a:t>
            </a:r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371600" y="2377440"/>
            <a:ext cx="1188720" cy="365760"/>
          </a:xfrm>
          <a:prstGeom prst="rect">
            <a:avLst/>
          </a:prstGeom>
          <a:solidFill>
            <a:srgbClr val="E6E6E6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rPr lang="en-US"/>
              <a:t>DC/DC Boost</a:t>
            </a:r>
            <a:endParaRPr dirty="0"/>
          </a:p>
        </p:txBody>
      </p:sp>
      <p:cxnSp>
        <p:nvCxnSpPr>
          <p:cNvPr id="19" name="Connector 18"/>
          <p:cNvCxnSpPr/>
          <p:nvPr/>
        </p:nvCxnSpPr>
        <p:spPr>
          <a:xfrm>
            <a:off x="2560320" y="2560320"/>
            <a:ext cx="64008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3200400" y="2377440"/>
            <a:ext cx="1188720" cy="365760"/>
          </a:xfrm>
          <a:prstGeom prst="rect">
            <a:avLst/>
          </a:prstGeom>
          <a:solidFill>
            <a:srgbClr val="E6E6E6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rPr lang="en-US"/>
              <a:t>High frequency
Trans</a:t>
            </a:r>
            <a:endParaRPr/>
          </a:p>
        </p:txBody>
      </p:sp>
      <p:cxnSp>
        <p:nvCxnSpPr>
          <p:cNvPr id="21" name="Connector 20"/>
          <p:cNvCxnSpPr/>
          <p:nvPr/>
        </p:nvCxnSpPr>
        <p:spPr>
          <a:xfrm>
            <a:off x="4389120" y="2560320"/>
            <a:ext cx="45720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4846320" y="2377440"/>
            <a:ext cx="914400" cy="365760"/>
          </a:xfrm>
          <a:prstGeom prst="rect">
            <a:avLst/>
          </a:prstGeom>
          <a:solidFill>
            <a:srgbClr val="E6E6E6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rPr lang="en-US"/>
              <a:t>H-Bridge
PWM</a:t>
            </a:r>
            <a:endParaRPr/>
          </a:p>
        </p:txBody>
      </p:sp>
      <p:cxnSp>
        <p:nvCxnSpPr>
          <p:cNvPr id="23" name="Connector 22"/>
          <p:cNvCxnSpPr/>
          <p:nvPr/>
        </p:nvCxnSpPr>
        <p:spPr>
          <a:xfrm>
            <a:off x="5760720" y="2560320"/>
            <a:ext cx="64008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400800" y="2377440"/>
            <a:ext cx="1097280" cy="365760"/>
          </a:xfrm>
          <a:prstGeom prst="rect">
            <a:avLst/>
          </a:prstGeom>
          <a:solidFill>
            <a:srgbClr val="E6E6E6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rPr lang="en-US"/>
              <a:t>LC filter</a:t>
            </a:r>
            <a:endParaRPr/>
          </a:p>
        </p:txBody>
      </p:sp>
      <p:cxnSp>
        <p:nvCxnSpPr>
          <p:cNvPr id="25" name="Connector 24"/>
          <p:cNvCxnSpPr/>
          <p:nvPr/>
        </p:nvCxnSpPr>
        <p:spPr>
          <a:xfrm>
            <a:off x="7498079" y="2560320"/>
            <a:ext cx="548641" cy="0"/>
          </a:xfrm>
          <a:prstGeom prst="line">
            <a:avLst/>
          </a:prstGeom>
          <a:ln w="317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010039" y="2330946"/>
            <a:ext cx="10972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0000"/>
                </a:solidFill>
              </a:defRPr>
            </a:pPr>
            <a:r>
              <a:rPr lang="en-US" sz="1000"/>
              <a:t>AC100V Output
Up to 1500W</a:t>
            </a:r>
            <a:endParaRPr sz="1000" dirty="0"/>
          </a:p>
        </p:txBody>
      </p:sp>
      <p:sp>
        <p:nvSpPr>
          <p:cNvPr id="27" name="TextBox 26"/>
          <p:cNvSpPr txBox="1"/>
          <p:nvPr/>
        </p:nvSpPr>
        <p:spPr>
          <a:xfrm>
            <a:off x="-384874" y="300938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0000"/>
                </a:solidFill>
              </a:defRPr>
            </a:pPr>
            <a:r>
              <a:rPr dirty="0"/>
              <a:t>【</a:t>
            </a:r>
            <a:r>
              <a:rPr dirty="0" err="1"/>
              <a:t>出力並列合成</a:t>
            </a:r>
            <a:r>
              <a:rPr dirty="0"/>
              <a:t>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0" y="3063240"/>
            <a:ext cx="1828800" cy="457200"/>
          </a:xfrm>
          <a:prstGeom prst="rect">
            <a:avLst/>
          </a:prstGeom>
          <a:solidFill>
            <a:srgbClr val="C8C8C8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rPr lang="en-US"/>
              <a:t>AC parallel connection
Up to 3000W</a:t>
            </a:r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02920" y="3732767"/>
            <a:ext cx="822960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00000"/>
                </a:solidFill>
              </a:defRPr>
            </a:pPr>
            <a:r>
              <a:rPr lang="en-US" sz="1600" dirty="0"/>
              <a:t>■ Power Processing Steps</a:t>
            </a:r>
          </a:p>
          <a:p>
            <a:pPr>
              <a:defRPr sz="900" b="0">
                <a:solidFill>
                  <a:srgbClr val="000000"/>
                </a:solidFill>
              </a:defRPr>
            </a:pPr>
            <a:r>
              <a:rPr lang="en-US" sz="1600" dirty="0"/>
              <a:t>
1. DC/DC Boost: Boost the input DC 48V to generate DC voltage for H-bridge drive (efficiency: ~95%)
2. High-frequency transformer: Converts step-up DC voltage with an isolated transformer (miniaturization at high frequency)
3. H-Bridge Inverse Conversion: DC → AC inverse conversion using MCU's PWM control signal (frequency: selectable 50/60Hz)
4. LC filter: Removes the switching frequency of PWM to generate pure sine wave AC100V output
5. Parallel power: Parallel output of 3000W by paralleling the upper and lower stages (load balancing)</a:t>
            </a:r>
            <a:endParaRPr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0000"/>
                </a:solidFill>
              </a:defRPr>
            </a:pPr>
            <a:r>
              <a:rPr lang="en-US"/>
              <a:t>Interface Specifications</a:t>
            </a: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097281"/>
            <a:ext cx="228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0000"/>
                </a:solidFill>
              </a:defRPr>
            </a:pPr>
            <a:r>
              <a:rPr lang="en-US"/>
              <a:t>■ CN3 (16P) - Front panel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640080" y="1463041"/>
            <a:ext cx="2560320" cy="1645920"/>
          </a:xfrm>
          <a:prstGeom prst="rect">
            <a:avLst/>
          </a:prstGeom>
          <a:solidFill>
            <a:srgbClr val="F0F0F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000" b="1">
                <a:solidFill>
                  <a:srgbClr val="000000"/>
                </a:solidFill>
              </a:defRPr>
            </a:pPr>
            <a:r>
              <a:rPr lang="en-US"/>
              <a:t>Application: Connection to the front panel
Signal Composition: 
・Power supply switch (input)
・LED display signal (output)
・Buzzer control (output)
・Status signal (output)
Connector: 16-pin DIN type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3199273" y="1097281"/>
            <a:ext cx="338779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0000"/>
                </a:solidFill>
              </a:defRPr>
            </a:pPr>
            <a:r>
              <a:rPr lang="en-US"/>
              <a:t>■ CN2 (8P) - Inter-control board communication</a:t>
            </a: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3383280" y="1463041"/>
            <a:ext cx="2560320" cy="1645920"/>
          </a:xfrm>
          <a:prstGeom prst="rect">
            <a:avLst/>
          </a:prstGeom>
          <a:solidFill>
            <a:srgbClr val="F0F0F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000" b="1">
                <a:solidFill>
                  <a:srgbClr val="000000"/>
                </a:solidFill>
              </a:defRPr>
            </a:pPr>
            <a:r>
              <a:rPr lang="en-US"/>
              <a:t>Purpose: Communication between upper and lower MCUs
Communication content: 
・PWM synchronization signal
・Output current information
・Abnormal notification
・Slave control
Connector: 8-pin DIN type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6309360" y="1097281"/>
            <a:ext cx="228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0000"/>
                </a:solidFill>
              </a:defRPr>
            </a:pPr>
            <a:r>
              <a:rPr lang="en-US"/>
              <a:t>■ External Remote Connector</a:t>
            </a:r>
            <a:endParaRPr dirty="0"/>
          </a:p>
        </p:txBody>
      </p:sp>
      <p:sp>
        <p:nvSpPr>
          <p:cNvPr id="8" name="Rectangle 7"/>
          <p:cNvSpPr/>
          <p:nvPr/>
        </p:nvSpPr>
        <p:spPr>
          <a:xfrm>
            <a:off x="6126480" y="1463041"/>
            <a:ext cx="2560320" cy="1645920"/>
          </a:xfrm>
          <a:prstGeom prst="rect">
            <a:avLst/>
          </a:prstGeom>
          <a:solidFill>
            <a:srgbClr val="F0F0F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000" b="1">
                <a:solidFill>
                  <a:srgbClr val="000000"/>
                </a:solidFill>
              </a:defRPr>
            </a:pPr>
            <a:r>
              <a:rPr lang="en-US"/>
              <a:t>Application: External control input
Features: 
・Remote power control
・Status monitoring (output available)
・Abnormal signal output
Via the rear panel board
Control Board and Connection</a:t>
            </a: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3383283"/>
            <a:ext cx="8229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0000"/>
                </a:solidFill>
              </a:defRPr>
            </a:pPr>
            <a:r>
              <a:rPr lang="en-US"/>
              <a:t>■ Control Board Specifications (66-BA97-2101)</a:t>
            </a:r>
            <a:endParaRPr dirty="0"/>
          </a:p>
        </p:txBody>
      </p:sp>
      <p:sp>
        <p:nvSpPr>
          <p:cNvPr id="10" name="Rectangle 9"/>
          <p:cNvSpPr/>
          <p:nvPr/>
        </p:nvSpPr>
        <p:spPr>
          <a:xfrm>
            <a:off x="640080" y="3840482"/>
            <a:ext cx="3931920" cy="2103120"/>
          </a:xfrm>
          <a:prstGeom prst="rect">
            <a:avLst/>
          </a:prstGeom>
          <a:solidFill>
            <a:srgbClr val="DCDCDC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000" b="1">
                <a:solidFill>
                  <a:srgbClr val="000000"/>
                </a:solidFill>
              </a:defRPr>
            </a:pPr>
            <a:r>
              <a:rPr lang="en-US"/>
              <a:t>[Upper Control Board]
DIP setting: 0 1 0
(Master, Sync Trigger, Normal Mode)
Features: 
・Front panel system
・PWM waveform generation
・Current detection &amp; feedback
・Abnormality detection &amp; notification
・Buzzer control</a:t>
            </a:r>
            <a:endParaRPr dirty="0"/>
          </a:p>
        </p:txBody>
      </p:sp>
      <p:sp>
        <p:nvSpPr>
          <p:cNvPr id="11" name="Rectangle 10"/>
          <p:cNvSpPr/>
          <p:nvPr/>
        </p:nvSpPr>
        <p:spPr>
          <a:xfrm>
            <a:off x="4663440" y="3840482"/>
            <a:ext cx="3931920" cy="2103120"/>
          </a:xfrm>
          <a:prstGeom prst="rect">
            <a:avLst/>
          </a:prstGeom>
          <a:solidFill>
            <a:srgbClr val="DCDCDC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000" b="1">
                <a:solidFill>
                  <a:srgbClr val="000000"/>
                </a:solidFill>
              </a:defRPr>
            </a:pPr>
            <a:r>
              <a:rPr lang="en-US"/>
              <a:t>[Lower Control Board]
DIP setting: 0 0 1
(Slave, sync reception, normal mode)
Features: 
・Synchronized reception with the upper platform
・PWM waveform generation (synchronization)
・Current detection &amp; feedback
・Abnormality detection &amp; notification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0000"/>
                </a:solidFill>
              </a:defRPr>
            </a:pPr>
            <a:r>
              <a:rPr lang="en-US"/>
              <a:t>System Specifications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39319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0000"/>
                </a:solidFill>
              </a:defRPr>
            </a:pPr>
            <a:r>
              <a:rPr lang="en-US"/>
              <a:t>■ Input/Output Specifications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274320" y="1371600"/>
            <a:ext cx="4749236" cy="1828800"/>
          </a:xfrm>
          <a:prstGeom prst="rect">
            <a:avLst/>
          </a:prstGeom>
          <a:solidFill>
            <a:srgbClr val="F0F0F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000" b="1">
                <a:solidFill>
                  <a:srgbClr val="000000"/>
                </a:solidFill>
              </a:defRPr>
            </a:pPr>
            <a:r>
              <a:rPr lang="en-US"/>
              <a:t>[Input]
・Voltage: DC48V ±10% 
・Maximum input current: 65A each for the upper and lower stages (total 130A)
・Maximum input power: 6240W (DC48V×130A)
[Output]
・Voltage: AC100V ±5% 
・Frequency: 50/60Hz (optional)
・Maximum output power: 3000W (total of upper and lower sections 1500W×2)
・Waveform: Pure sine wave (THD≦3%)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5437851" y="1005840"/>
            <a:ext cx="278609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0000"/>
                </a:solidFill>
              </a:defRPr>
            </a:pPr>
            <a:r>
              <a:rPr lang="en-US" dirty="0"/>
              <a:t>■ Performance</a:t>
            </a: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5266266" y="1371600"/>
            <a:ext cx="3420533" cy="1828800"/>
          </a:xfrm>
          <a:prstGeom prst="rect">
            <a:avLst/>
          </a:prstGeom>
          <a:solidFill>
            <a:srgbClr val="F0F0F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000" b="1">
                <a:solidFill>
                  <a:srgbClr val="000000"/>
                </a:solidFill>
              </a:defRPr>
            </a:pPr>
            <a:r>
              <a:rPr lang="en-US" dirty="0"/>
              <a:t>■ Conversion efficiency: ≧92% (estimated)
・DC/DC Step-Up Step: ~95% 
・H-Bridge Inverse Conversion: ~97% 
・Transformer &amp; filter loss: ~98% 
■ Response Speed
・Startup time: &lt;500ms
・Sync lock time: &lt;100ms
・Anomaly detection: Real-time
■ Cooling: Forced air cooling or natural convection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457200" y="3383280"/>
            <a:ext cx="8229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0000"/>
                </a:solidFill>
              </a:defRPr>
            </a:pPr>
            <a:r>
              <a:rPr lang="en-US"/>
              <a:t>■ Operating Specifications</a:t>
            </a:r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3749039"/>
            <a:ext cx="8412480" cy="2486446"/>
          </a:xfrm>
          <a:prstGeom prst="rect">
            <a:avLst/>
          </a:prstGeom>
          <a:solidFill>
            <a:srgbClr val="F0F0F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000" b="1">
                <a:solidFill>
                  <a:srgbClr val="000000"/>
                </a:solidFill>
              </a:defRPr>
            </a:pPr>
            <a:r>
              <a:rPr lang="en-US"/>
              <a:t>■ System Requirements
・Temperature range: -10°C~+50°C (recommended 0~40°C) ・Humidity range: 20~80% (no condensation) ・Altitude: &lt;2000m
■ Protection Features
・Overcurrent protection: Implemented on all output lines (automatic shutdown)
・Overtemperature protection: monitored by temperature sensor (warning → shutdown)
・Low input voltage protection: Cutoff at DC48V&lt;43.2V
・Synchronization error protection: automatically turns off the lower stage when CN2 communication is interrupted.
・Abnormality notifications: Instant display with buzzer and LED display
■ Insulation Withstand Voltage
・Between input~output: DC3000V, 1 minute (compliant with safety standards)
・Inter-signal circuit: DC500V, 1 minute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1110</Words>
  <Application>Microsoft Office PowerPoint</Application>
  <PresentationFormat>画面に合わせる (4:3)</PresentationFormat>
  <Paragraphs>65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hase</dc:creator>
  <cp:keywords/>
  <dc:description>generated using python-pptx</dc:description>
  <cp:lastModifiedBy>Tomoko Hasegawa</cp:lastModifiedBy>
  <cp:revision>4</cp:revision>
  <dcterms:created xsi:type="dcterms:W3CDTF">2013-01-27T09:14:16Z</dcterms:created>
  <dcterms:modified xsi:type="dcterms:W3CDTF">2026-09-06T04:53:57Z</dcterms:modified>
  <cp:category/>
</cp:coreProperties>
</file>