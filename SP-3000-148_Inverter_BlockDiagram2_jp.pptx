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8" d="100"/>
          <a:sy n="148" d="100"/>
        </p:scale>
        <p:origin x="624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</a:defRPr>
            </a:pPr>
            <a:r>
              <a:t>SP-3000-148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6108" y="3474720"/>
            <a:ext cx="5811784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04040"/>
                </a:solidFill>
              </a:defRPr>
            </a:pPr>
            <a:r>
              <a:rPr dirty="0"/>
              <a:t>DC48V → AC100V 3000W </a:t>
            </a:r>
            <a:r>
              <a:rPr dirty="0" err="1"/>
              <a:t>インバータ</a:t>
            </a:r>
            <a:endParaRPr dirty="0"/>
          </a:p>
          <a:p>
            <a:pPr algn="ctr"/>
            <a:r>
              <a:rPr dirty="0" err="1"/>
              <a:t>システムブロック図詳細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全体システムブロック図</a:t>
            </a:r>
          </a:p>
        </p:txBody>
      </p:sp>
      <p:sp>
        <p:nvSpPr>
          <p:cNvPr id="3" name="Rectangle 2"/>
          <p:cNvSpPr/>
          <p:nvPr/>
        </p:nvSpPr>
        <p:spPr>
          <a:xfrm>
            <a:off x="5565325" y="1070480"/>
            <a:ext cx="2771096" cy="548640"/>
          </a:xfrm>
          <a:prstGeom prst="rect">
            <a:avLst/>
          </a:prstGeom>
          <a:solidFill>
            <a:srgbClr val="C8C8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 err="1"/>
              <a:t>フロントパネル</a:t>
            </a:r>
            <a:r>
              <a:rPr lang="ja-JP" altLang="en-US" dirty="0"/>
              <a:t>基板</a:t>
            </a:r>
            <a:endParaRPr dirty="0"/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 altLang="ja-JP" dirty="0"/>
              <a:t>DIP-</a:t>
            </a:r>
            <a:r>
              <a:rPr dirty="0"/>
              <a:t>SW / LED</a:t>
            </a:r>
            <a:r>
              <a:rPr lang="en-US" altLang="ja-JP" dirty="0"/>
              <a:t>/TRC port (RJ-45)/P-Sav</a:t>
            </a:r>
            <a:r>
              <a:rPr lang="ja-JP" altLang="en-US" dirty="0"/>
              <a:t>調整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639063" y="1829707"/>
            <a:ext cx="8265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1000" b="1" dirty="0">
                <a:latin typeface="+mj-lt"/>
              </a:rPr>
              <a:t>CN3(16P)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60275" y="2911998"/>
            <a:ext cx="0" cy="3657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064276" y="2907868"/>
            <a:ext cx="3566160" cy="10972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 err="1"/>
              <a:t>上段電力基板</a:t>
            </a:r>
            <a:endParaRPr dirty="0"/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/>
              <a:t>DC/</a:t>
            </a:r>
            <a:r>
              <a:rPr dirty="0" err="1"/>
              <a:t>DC昇圧</a:t>
            </a:r>
            <a:r>
              <a:rPr dirty="0"/>
              <a:t> / </a:t>
            </a:r>
            <a:r>
              <a:rPr dirty="0" err="1"/>
              <a:t>高周波トランス</a:t>
            </a:r>
            <a:endParaRPr dirty="0"/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 err="1"/>
              <a:t>HブリッジPWM</a:t>
            </a:r>
            <a:r>
              <a:rPr dirty="0"/>
              <a:t> / </a:t>
            </a:r>
            <a:r>
              <a:rPr dirty="0" err="1"/>
              <a:t>LCフィルタ</a:t>
            </a:r>
            <a:endParaRPr dirty="0"/>
          </a:p>
        </p:txBody>
      </p:sp>
      <p:cxnSp>
        <p:nvCxnSpPr>
          <p:cNvPr id="9" name="Connector 8"/>
          <p:cNvCxnSpPr/>
          <p:nvPr/>
        </p:nvCxnSpPr>
        <p:spPr>
          <a:xfrm>
            <a:off x="961156" y="6049886"/>
            <a:ext cx="210312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97840" y="5779958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</a:defRPr>
            </a:pPr>
            <a:r>
              <a:rPr sz="1200" dirty="0"/>
              <a:t>DC48V入力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30436" y="3864623"/>
            <a:ext cx="164592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79076" y="3594695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</a:defRPr>
            </a:pPr>
            <a:r>
              <a:rPr sz="1200"/>
              <a:t>AC100V出力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8299" y="4795358"/>
            <a:ext cx="13759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lang="ja-JP" altLang="en-US" sz="1000" b="1" dirty="0">
                <a:latin typeface="+mj-lt"/>
              </a:rPr>
              <a:t>バスバー</a:t>
            </a:r>
            <a:r>
              <a:rPr sz="1000" b="1" dirty="0" err="1">
                <a:latin typeface="+mj-lt"/>
              </a:rPr>
              <a:t>接続</a:t>
            </a:r>
            <a:endParaRPr sz="1000" b="1" dirty="0"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55108" y="2621668"/>
            <a:ext cx="1903193" cy="550704"/>
          </a:xfrm>
          <a:prstGeom prst="rect">
            <a:avLst/>
          </a:prstGeom>
          <a:solidFill>
            <a:srgbClr val="C8C8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 err="1"/>
              <a:t>リアパネル基板</a:t>
            </a:r>
            <a:endParaRPr lang="en-US" dirty="0"/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 dirty="0"/>
              <a:t>Remote port (RJ-11) </a:t>
            </a:r>
            <a:r>
              <a:rPr lang="en-US" altLang="ja-JP" dirty="0"/>
              <a:t>/RC</a:t>
            </a:r>
            <a:r>
              <a:rPr lang="ja-JP" altLang="en-US" dirty="0"/>
              <a:t> 端子</a:t>
            </a:r>
            <a:endParaRPr dirty="0"/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 flipH="1">
            <a:off x="2607076" y="3045158"/>
            <a:ext cx="54424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</p:cNvCxnSpPr>
          <p:nvPr/>
        </p:nvCxnSpPr>
        <p:spPr>
          <a:xfrm>
            <a:off x="2728732" y="3849131"/>
            <a:ext cx="0" cy="2198177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64276" y="5100363"/>
            <a:ext cx="3566160" cy="10972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 err="1"/>
              <a:t>下段電力基板</a:t>
            </a:r>
            <a:endParaRPr dirty="0"/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/>
              <a:t>DC/</a:t>
            </a:r>
            <a:r>
              <a:rPr dirty="0" err="1"/>
              <a:t>DC昇圧</a:t>
            </a:r>
            <a:r>
              <a:rPr dirty="0"/>
              <a:t> / </a:t>
            </a:r>
            <a:r>
              <a:rPr dirty="0" err="1"/>
              <a:t>高周波トランス</a:t>
            </a:r>
            <a:endParaRPr dirty="0"/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 err="1"/>
              <a:t>HブリッジPWM</a:t>
            </a:r>
            <a:r>
              <a:rPr dirty="0"/>
              <a:t> / </a:t>
            </a:r>
            <a:r>
              <a:rPr dirty="0" err="1"/>
              <a:t>LCフィルタ</a:t>
            </a:r>
            <a:endParaRPr dirty="0"/>
          </a:p>
        </p:txBody>
      </p:sp>
      <p:cxnSp>
        <p:nvCxnSpPr>
          <p:cNvPr id="21" name="Connector 20"/>
          <p:cNvCxnSpPr/>
          <p:nvPr/>
        </p:nvCxnSpPr>
        <p:spPr>
          <a:xfrm>
            <a:off x="45720" y="5303520"/>
            <a:ext cx="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930122" y="4115578"/>
            <a:ext cx="13759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</a:defRPr>
            </a:pPr>
            <a:r>
              <a:rPr sz="1000" b="1" dirty="0">
                <a:latin typeface="+mj-lt"/>
              </a:rPr>
              <a:t>CN2(8P)</a:t>
            </a:r>
            <a:r>
              <a:rPr sz="1000" b="1" dirty="0" err="1">
                <a:latin typeface="+mj-lt"/>
              </a:rPr>
              <a:t>通信</a:t>
            </a:r>
            <a:endParaRPr sz="1000" b="1" dirty="0">
              <a:latin typeface="+mj-lt"/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DC3455FA-EAF4-3D02-9284-496DB4E107D7}"/>
              </a:ext>
            </a:extLst>
          </p:cNvPr>
          <p:cNvSpPr/>
          <p:nvPr/>
        </p:nvSpPr>
        <p:spPr>
          <a:xfrm>
            <a:off x="7216671" y="2621668"/>
            <a:ext cx="1119750" cy="548640"/>
          </a:xfrm>
          <a:prstGeom prst="rect">
            <a:avLst/>
          </a:prstGeom>
          <a:solidFill>
            <a:srgbClr val="C8C8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 err="1"/>
              <a:t>フロントパネル</a:t>
            </a:r>
            <a:endParaRPr dirty="0"/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ja-JP" altLang="en-US" dirty="0"/>
              <a:t>電源</a:t>
            </a:r>
            <a:r>
              <a:rPr lang="en-US" altLang="ja-JP" dirty="0"/>
              <a:t>-</a:t>
            </a:r>
            <a:r>
              <a:rPr dirty="0"/>
              <a:t>SW</a:t>
            </a:r>
          </a:p>
        </p:txBody>
      </p:sp>
      <p:cxnSp>
        <p:nvCxnSpPr>
          <p:cNvPr id="25" name="Connector 3">
            <a:extLst>
              <a:ext uri="{FF2B5EF4-FFF2-40B4-BE49-F238E27FC236}">
                <a16:creationId xmlns:a16="http://schemas.microsoft.com/office/drawing/2014/main" id="{C415C428-9606-CFB5-7C66-C0E018278ED9}"/>
              </a:ext>
            </a:extLst>
          </p:cNvPr>
          <p:cNvCxnSpPr>
            <a:cxnSpLocks/>
          </p:cNvCxnSpPr>
          <p:nvPr/>
        </p:nvCxnSpPr>
        <p:spPr>
          <a:xfrm flipH="1">
            <a:off x="6465643" y="3045158"/>
            <a:ext cx="865055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4">
            <a:extLst>
              <a:ext uri="{FF2B5EF4-FFF2-40B4-BE49-F238E27FC236}">
                <a16:creationId xmlns:a16="http://schemas.microsoft.com/office/drawing/2014/main" id="{9100A78F-394E-B7E6-1CC8-AE3074BB2022}"/>
              </a:ext>
            </a:extLst>
          </p:cNvPr>
          <p:cNvSpPr txBox="1"/>
          <p:nvPr/>
        </p:nvSpPr>
        <p:spPr>
          <a:xfrm>
            <a:off x="6760767" y="2814280"/>
            <a:ext cx="5094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1000" b="1" dirty="0">
                <a:latin typeface="+mj-lt"/>
              </a:rPr>
              <a:t>(</a:t>
            </a:r>
            <a:r>
              <a:rPr lang="en-US" sz="1000" b="1" dirty="0">
                <a:latin typeface="+mj-lt"/>
              </a:rPr>
              <a:t>3</a:t>
            </a:r>
            <a:r>
              <a:rPr sz="1000" b="1" dirty="0">
                <a:latin typeface="+mj-lt"/>
              </a:rPr>
              <a:t>P)</a:t>
            </a:r>
          </a:p>
        </p:txBody>
      </p:sp>
      <p:cxnSp>
        <p:nvCxnSpPr>
          <p:cNvPr id="32" name="Connector 8">
            <a:extLst>
              <a:ext uri="{FF2B5EF4-FFF2-40B4-BE49-F238E27FC236}">
                <a16:creationId xmlns:a16="http://schemas.microsoft.com/office/drawing/2014/main" id="{9898719E-ED03-AD1C-EACB-5B013DDEEF70}"/>
              </a:ext>
            </a:extLst>
          </p:cNvPr>
          <p:cNvCxnSpPr>
            <a:cxnSpLocks/>
          </p:cNvCxnSpPr>
          <p:nvPr/>
        </p:nvCxnSpPr>
        <p:spPr>
          <a:xfrm>
            <a:off x="2735711" y="3862054"/>
            <a:ext cx="328565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18">
            <a:extLst>
              <a:ext uri="{FF2B5EF4-FFF2-40B4-BE49-F238E27FC236}">
                <a16:creationId xmlns:a16="http://schemas.microsoft.com/office/drawing/2014/main" id="{007D423C-1CE1-F222-ED47-61C636D725EC}"/>
              </a:ext>
            </a:extLst>
          </p:cNvPr>
          <p:cNvCxnSpPr>
            <a:cxnSpLocks/>
          </p:cNvCxnSpPr>
          <p:nvPr/>
        </p:nvCxnSpPr>
        <p:spPr>
          <a:xfrm>
            <a:off x="6962359" y="3864623"/>
            <a:ext cx="0" cy="2198177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8">
            <a:extLst>
              <a:ext uri="{FF2B5EF4-FFF2-40B4-BE49-F238E27FC236}">
                <a16:creationId xmlns:a16="http://schemas.microsoft.com/office/drawing/2014/main" id="{BEFC5915-F66D-7302-9E80-16D3580E6003}"/>
              </a:ext>
            </a:extLst>
          </p:cNvPr>
          <p:cNvCxnSpPr>
            <a:cxnSpLocks/>
          </p:cNvCxnSpPr>
          <p:nvPr/>
        </p:nvCxnSpPr>
        <p:spPr>
          <a:xfrm>
            <a:off x="6633546" y="6062800"/>
            <a:ext cx="328565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13">
            <a:extLst>
              <a:ext uri="{FF2B5EF4-FFF2-40B4-BE49-F238E27FC236}">
                <a16:creationId xmlns:a16="http://schemas.microsoft.com/office/drawing/2014/main" id="{33309FB4-84CC-5BCB-2631-F3F9921BC7AA}"/>
              </a:ext>
            </a:extLst>
          </p:cNvPr>
          <p:cNvSpPr txBox="1"/>
          <p:nvPr/>
        </p:nvSpPr>
        <p:spPr>
          <a:xfrm>
            <a:off x="1829061" y="4761466"/>
            <a:ext cx="13759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lang="ja-JP" altLang="en-US" sz="1000" b="1" dirty="0">
                <a:latin typeface="+mj-lt"/>
              </a:rPr>
              <a:t>バスバー</a:t>
            </a:r>
            <a:r>
              <a:rPr sz="1000" b="1" dirty="0" err="1">
                <a:latin typeface="+mj-lt"/>
              </a:rPr>
              <a:t>接続</a:t>
            </a:r>
            <a:endParaRPr sz="1000" b="1" dirty="0">
              <a:latin typeface="+mj-lt"/>
            </a:endParaRPr>
          </a:p>
        </p:txBody>
      </p:sp>
      <p:cxnSp>
        <p:nvCxnSpPr>
          <p:cNvPr id="43" name="Connector 3">
            <a:extLst>
              <a:ext uri="{FF2B5EF4-FFF2-40B4-BE49-F238E27FC236}">
                <a16:creationId xmlns:a16="http://schemas.microsoft.com/office/drawing/2014/main" id="{FFC0EE61-FE1C-DB82-C382-A04B1153C605}"/>
              </a:ext>
            </a:extLst>
          </p:cNvPr>
          <p:cNvCxnSpPr>
            <a:cxnSpLocks/>
          </p:cNvCxnSpPr>
          <p:nvPr/>
        </p:nvCxnSpPr>
        <p:spPr>
          <a:xfrm>
            <a:off x="6271912" y="3045158"/>
            <a:ext cx="0" cy="222943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">
            <a:extLst>
              <a:ext uri="{FF2B5EF4-FFF2-40B4-BE49-F238E27FC236}">
                <a16:creationId xmlns:a16="http://schemas.microsoft.com/office/drawing/2014/main" id="{C9DFA94B-9B9C-A086-0F73-B582FCDACA49}"/>
              </a:ext>
            </a:extLst>
          </p:cNvPr>
          <p:cNvSpPr txBox="1"/>
          <p:nvPr/>
        </p:nvSpPr>
        <p:spPr>
          <a:xfrm>
            <a:off x="6262487" y="4115578"/>
            <a:ext cx="5094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1000" b="1" dirty="0">
                <a:latin typeface="+mj-lt"/>
              </a:rPr>
              <a:t>(</a:t>
            </a:r>
            <a:r>
              <a:rPr lang="en-US" sz="1000" b="1" dirty="0">
                <a:latin typeface="+mj-lt"/>
              </a:rPr>
              <a:t>3</a:t>
            </a:r>
            <a:r>
              <a:rPr sz="1000" b="1" dirty="0">
                <a:latin typeface="+mj-lt"/>
              </a:rPr>
              <a:t>P)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26011" y="2273466"/>
            <a:ext cx="1891055" cy="73152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 err="1"/>
              <a:t>上段制御基板</a:t>
            </a:r>
            <a:endParaRPr dirty="0"/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/>
              <a:t>66-BA97-2101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/>
              <a:t>MCU / DIP=010 / </a:t>
            </a:r>
            <a:r>
              <a:rPr dirty="0" err="1"/>
              <a:t>ブザ</a:t>
            </a:r>
            <a:r>
              <a:rPr dirty="0"/>
              <a:t>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26012" y="4480231"/>
            <a:ext cx="1891054" cy="73152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 err="1"/>
              <a:t>下段制御基板</a:t>
            </a:r>
            <a:endParaRPr dirty="0"/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dirty="0"/>
              <a:t>66-BA97-2101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 altLang="ja-JP" dirty="0"/>
              <a:t>MCU / DIP=001 / </a:t>
            </a:r>
            <a:r>
              <a:rPr lang="ja-JP" altLang="en-US" dirty="0"/>
              <a:t>ブザー</a:t>
            </a:r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 flipV="1">
            <a:off x="3936061" y="2383896"/>
            <a:ext cx="0" cy="2243895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>
            <a:cxnSpLocks/>
          </p:cNvCxnSpPr>
          <p:nvPr/>
        </p:nvCxnSpPr>
        <p:spPr>
          <a:xfrm>
            <a:off x="5639063" y="1503336"/>
            <a:ext cx="0" cy="8805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981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制御構成と通信フロー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52777" y="1005840"/>
            <a:ext cx="17668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rPr dirty="0"/>
              <a:t>【</a:t>
            </a:r>
            <a:r>
              <a:rPr dirty="0" err="1"/>
              <a:t>上段システム</a:t>
            </a:r>
            <a:r>
              <a:rPr dirty="0"/>
              <a:t>】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9898" y="1371600"/>
            <a:ext cx="2011680" cy="64008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上段制御基板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(マスター)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MCU DIP=010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75738" y="201168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69898" y="2286000"/>
            <a:ext cx="2011680" cy="6400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上段電力基板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PWM制御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昇圧・逆変換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3059" y="148318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rPr dirty="0"/>
              <a:t>CN2(8P)</a:t>
            </a:r>
            <a:r>
              <a:rPr dirty="0" err="1"/>
              <a:t>通信</a:t>
            </a:r>
            <a:endParaRPr dirty="0"/>
          </a:p>
        </p:txBody>
      </p:sp>
      <p:cxnSp>
        <p:nvCxnSpPr>
          <p:cNvPr id="8" name="Connector 7"/>
          <p:cNvCxnSpPr/>
          <p:nvPr/>
        </p:nvCxnSpPr>
        <p:spPr>
          <a:xfrm>
            <a:off x="3069698" y="1783080"/>
            <a:ext cx="128016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52578" y="2103120"/>
            <a:ext cx="1737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1600" dirty="0"/>
              <a:t>・</a:t>
            </a:r>
            <a:r>
              <a:rPr sz="1600" dirty="0" err="1"/>
              <a:t>同期信号</a:t>
            </a:r>
            <a:endParaRPr sz="1600" dirty="0"/>
          </a:p>
          <a:p>
            <a:r>
              <a:rPr sz="1600" dirty="0"/>
              <a:t>・</a:t>
            </a:r>
            <a:r>
              <a:rPr sz="1600" dirty="0" err="1"/>
              <a:t>電流共有</a:t>
            </a:r>
            <a:endParaRPr sz="1600" dirty="0"/>
          </a:p>
          <a:p>
            <a:r>
              <a:rPr sz="1600" dirty="0"/>
              <a:t>・</a:t>
            </a:r>
            <a:r>
              <a:rPr sz="1600" dirty="0" err="1"/>
              <a:t>異常通知</a:t>
            </a:r>
            <a:endParaRPr sz="1600" dirty="0"/>
          </a:p>
        </p:txBody>
      </p:sp>
      <p:cxnSp>
        <p:nvCxnSpPr>
          <p:cNvPr id="10" name="Connector 9"/>
          <p:cNvCxnSpPr/>
          <p:nvPr/>
        </p:nvCxnSpPr>
        <p:spPr>
          <a:xfrm>
            <a:off x="4349858" y="1783080"/>
            <a:ext cx="128016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22203" y="1005840"/>
            <a:ext cx="17668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【下段システム】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39324" y="1371600"/>
            <a:ext cx="2011680" cy="64008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下段制御基板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(スレーブ)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MCU DIP=001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45164" y="201168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639324" y="2286000"/>
            <a:ext cx="2011680" cy="6400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下段電力基板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PWM制御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昇圧・逆変換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87485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rPr sz="1600" dirty="0"/>
              <a:t>■ </a:t>
            </a:r>
            <a:r>
              <a:rPr sz="1600" dirty="0" err="1"/>
              <a:t>制御フロー詳細</a:t>
            </a:r>
            <a:endParaRPr sz="1600" dirty="0"/>
          </a:p>
          <a:p>
            <a:endParaRPr sz="1600" dirty="0"/>
          </a:p>
          <a:p>
            <a:r>
              <a:rPr sz="1600" dirty="0"/>
              <a:t>1. </a:t>
            </a:r>
            <a:r>
              <a:rPr sz="1600" dirty="0" err="1"/>
              <a:t>電源制御：フロントパネル電源SWで上下段の電源を同時ON</a:t>
            </a:r>
            <a:r>
              <a:rPr sz="1600" dirty="0"/>
              <a:t>/OFF</a:t>
            </a:r>
          </a:p>
          <a:p>
            <a:endParaRPr sz="1600" dirty="0"/>
          </a:p>
          <a:p>
            <a:r>
              <a:rPr sz="1600" dirty="0"/>
              <a:t>2. 入力電力分配：DC48V入力を上下段に分配し、各段で独立した昇圧・逆変換を実行</a:t>
            </a:r>
          </a:p>
          <a:p>
            <a:endParaRPr sz="1600" dirty="0"/>
          </a:p>
          <a:p>
            <a:r>
              <a:rPr sz="1600" dirty="0"/>
              <a:t>3. 同期制御：CN2通信ラインにより、上段（マスター）</a:t>
            </a:r>
            <a:r>
              <a:rPr sz="1600" dirty="0" err="1"/>
              <a:t>が下段（スレーブ）と同期</a:t>
            </a:r>
            <a:endParaRPr sz="1600" dirty="0"/>
          </a:p>
          <a:p>
            <a:r>
              <a:rPr sz="1600" dirty="0"/>
              <a:t>   - </a:t>
            </a:r>
            <a:r>
              <a:rPr sz="1600" dirty="0" err="1"/>
              <a:t>PWM周波数・位相の同期</a:t>
            </a:r>
            <a:endParaRPr sz="1600" dirty="0"/>
          </a:p>
          <a:p>
            <a:r>
              <a:rPr sz="1600" dirty="0"/>
              <a:t>   - </a:t>
            </a:r>
            <a:r>
              <a:rPr sz="1600" dirty="0" err="1"/>
              <a:t>出力電流の均等分配（並列動作</a:t>
            </a:r>
            <a:r>
              <a:rPr sz="1600" dirty="0"/>
              <a:t>）</a:t>
            </a:r>
          </a:p>
          <a:p>
            <a:r>
              <a:rPr sz="1600" dirty="0"/>
              <a:t>   - </a:t>
            </a:r>
            <a:r>
              <a:rPr sz="1600" dirty="0" err="1"/>
              <a:t>異常検出時の同時シャットダウン</a:t>
            </a:r>
            <a:endParaRPr sz="1600" dirty="0"/>
          </a:p>
          <a:p>
            <a:endParaRPr sz="1600" dirty="0"/>
          </a:p>
          <a:p>
            <a:r>
              <a:rPr sz="1600" dirty="0"/>
              <a:t>4. 出力合成：両段のAC100V出力を並列して最大3000Wの電力供給を実現</a:t>
            </a:r>
          </a:p>
          <a:p>
            <a:endParaRPr sz="1600" dirty="0"/>
          </a:p>
          <a:p>
            <a:r>
              <a:rPr sz="1600" dirty="0"/>
              <a:t>5. </a:t>
            </a:r>
            <a:r>
              <a:rPr sz="1600" dirty="0" err="1"/>
              <a:t>保護機能：過電流、過温度、低入力電圧時にブザーで異常を通知</a:t>
            </a: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電力フロー構成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198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rPr dirty="0"/>
              <a:t>【</a:t>
            </a:r>
            <a:r>
              <a:rPr dirty="0" err="1"/>
              <a:t>上段：電力フロ</a:t>
            </a:r>
            <a:r>
              <a:rPr dirty="0"/>
              <a:t>ー】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63040"/>
            <a:ext cx="91440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2806" y="12181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</a:defRPr>
            </a:pPr>
            <a:r>
              <a:t>DC48V入力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80160"/>
            <a:ext cx="118872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DC/DC昇圧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463040"/>
            <a:ext cx="6400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00400" y="1280160"/>
            <a:ext cx="118872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高周波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トランス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89120" y="1463040"/>
            <a:ext cx="457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846320" y="1280160"/>
            <a:ext cx="91440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Hブリッジ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PWM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60720" y="1463040"/>
            <a:ext cx="6400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400800" y="1280160"/>
            <a:ext cx="109728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LCフィルタ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79" y="1463040"/>
            <a:ext cx="548641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10039" y="1233666"/>
            <a:ext cx="1097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</a:defRPr>
            </a:pPr>
            <a:r>
              <a:rPr sz="1000" dirty="0"/>
              <a:t>AC100V出力</a:t>
            </a:r>
          </a:p>
          <a:p>
            <a:r>
              <a:rPr sz="1000" dirty="0"/>
              <a:t>最大1500W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9171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【下段：電力フロー】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2560320"/>
            <a:ext cx="91440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2806" y="23154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</a:defRPr>
            </a:pPr>
            <a:r>
              <a:t>DC48V入力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377440"/>
            <a:ext cx="118872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DC/DC昇圧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60320" y="2560320"/>
            <a:ext cx="6400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00400" y="2377440"/>
            <a:ext cx="118872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高周波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トランス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89120" y="2560320"/>
            <a:ext cx="457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846320" y="2377440"/>
            <a:ext cx="91440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Hブリッジ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PWM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60720" y="2560320"/>
            <a:ext cx="6400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00800" y="2377440"/>
            <a:ext cx="109728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LCフィルタ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98079" y="2560320"/>
            <a:ext cx="548641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10039" y="2330946"/>
            <a:ext cx="1097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</a:defRPr>
            </a:pPr>
            <a:r>
              <a:rPr sz="1000"/>
              <a:t>AC100V出力</a:t>
            </a:r>
          </a:p>
          <a:p>
            <a:r>
              <a:rPr sz="1000"/>
              <a:t>最大1500W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-384874" y="30093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rPr dirty="0"/>
              <a:t>【</a:t>
            </a:r>
            <a:r>
              <a:rPr dirty="0" err="1"/>
              <a:t>出力並列合成</a:t>
            </a:r>
            <a:r>
              <a:rPr dirty="0"/>
              <a:t>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3063240"/>
            <a:ext cx="1828800" cy="457200"/>
          </a:xfrm>
          <a:prstGeom prst="rect">
            <a:avLst/>
          </a:prstGeom>
          <a:solidFill>
            <a:srgbClr val="C8C8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AC並列接続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最大3000W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732767"/>
            <a:ext cx="8229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1600" dirty="0"/>
              <a:t>■ </a:t>
            </a:r>
            <a:r>
              <a:rPr sz="1600" dirty="0" err="1"/>
              <a:t>電力処理ステップ</a:t>
            </a:r>
            <a:endParaRPr sz="1600" dirty="0"/>
          </a:p>
          <a:p>
            <a:endParaRPr sz="1600" dirty="0"/>
          </a:p>
          <a:p>
            <a:r>
              <a:rPr sz="1600" dirty="0"/>
              <a:t>1. DC/DC昇圧：入力DC48Vを昇圧してHブリッジ駆動用DC電圧を生成（効率：～95%）</a:t>
            </a:r>
          </a:p>
          <a:p>
            <a:endParaRPr sz="1600" dirty="0"/>
          </a:p>
          <a:p>
            <a:r>
              <a:rPr sz="1600" dirty="0"/>
              <a:t>2. </a:t>
            </a:r>
            <a:r>
              <a:rPr sz="1600" dirty="0" err="1"/>
              <a:t>高周波トランス：昇圧DC電圧を絶縁トランスで変換（高周波で小型化</a:t>
            </a:r>
            <a:r>
              <a:rPr sz="1600" dirty="0"/>
              <a:t>）</a:t>
            </a:r>
          </a:p>
          <a:p>
            <a:endParaRPr sz="1600" dirty="0"/>
          </a:p>
          <a:p>
            <a:r>
              <a:rPr sz="1600" dirty="0"/>
              <a:t>3. Hブリッジ逆変換：MCUのPWM制御信号でDC→AC逆変換（周波数：50/60Hz選択可能）</a:t>
            </a:r>
          </a:p>
          <a:p>
            <a:endParaRPr sz="1600" dirty="0"/>
          </a:p>
          <a:p>
            <a:r>
              <a:rPr sz="1600" dirty="0"/>
              <a:t>4. LCフィルタ：PWMのスイッチング周波数を除去して純正弦波AC100V出力を生成</a:t>
            </a:r>
          </a:p>
          <a:p>
            <a:endParaRPr sz="1600" dirty="0"/>
          </a:p>
          <a:p>
            <a:r>
              <a:rPr sz="1600" dirty="0"/>
              <a:t>5. 並列出力：上下段の出力を並列して3000Wの合計出力を実現（負荷分散）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インターフェース仕様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</a:defRPr>
            </a:pPr>
            <a:r>
              <a:rPr dirty="0"/>
              <a:t>■ CN3(16P) - </a:t>
            </a:r>
            <a:r>
              <a:rPr dirty="0" err="1"/>
              <a:t>フロントパネル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40080" y="1463041"/>
            <a:ext cx="2560320" cy="164592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dirty="0" err="1"/>
              <a:t>用途：フロントパネルとの接続</a:t>
            </a: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 err="1"/>
              <a:t>信号構成</a:t>
            </a:r>
            <a:r>
              <a:rPr dirty="0"/>
              <a:t>：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</a:t>
            </a:r>
            <a:r>
              <a:rPr dirty="0" err="1"/>
              <a:t>電源SW（入力</a:t>
            </a:r>
            <a:r>
              <a:rPr dirty="0"/>
              <a:t>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</a:t>
            </a:r>
            <a:r>
              <a:rPr dirty="0" err="1"/>
              <a:t>LED表示信号（出力</a:t>
            </a:r>
            <a:r>
              <a:rPr dirty="0"/>
              <a:t>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</a:t>
            </a:r>
            <a:r>
              <a:rPr dirty="0" err="1"/>
              <a:t>ブザー制御（出力</a:t>
            </a:r>
            <a:r>
              <a:rPr dirty="0"/>
              <a:t>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</a:t>
            </a:r>
            <a:r>
              <a:rPr dirty="0" err="1"/>
              <a:t>ステータス信号（出力</a:t>
            </a:r>
            <a:r>
              <a:rPr dirty="0"/>
              <a:t>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コネクタ：16ピン </a:t>
            </a:r>
            <a:r>
              <a:rPr dirty="0" err="1"/>
              <a:t>DIN型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566160" y="109728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</a:defRPr>
            </a:pPr>
            <a:r>
              <a:t>■ CN2(8P) - 制御基板間通信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463041"/>
            <a:ext cx="2560320" cy="164592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用途：上下段MCU間の通信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通信内容：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・PWM同期信号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・出力電流情報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・異常通知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・スレーブ制御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コネクタ：8ピン DIN型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9728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</a:defRPr>
            </a:pPr>
            <a:r>
              <a:t>■ 外部リモートコネクタ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1"/>
            <a:ext cx="2560320" cy="164592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用途：外部制御入力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機能：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・リモート電源制御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・状態監視（出力可能）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・異常信号出力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リアパネル基板経由で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制御基板と接続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3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</a:defRPr>
            </a:pPr>
            <a:r>
              <a:rPr dirty="0"/>
              <a:t>■ 制御基板仕様（66-BA97-2101）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40482"/>
            <a:ext cx="3931920" cy="210312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【上段制御基板】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DIP設定：0 1 0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（マスター・同期トリガー・通常モード）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機能：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・フロントパネル制��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・PWM波形生成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・電流検出＆フィードバック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・異常検出＆通知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・ブザー制御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840482"/>
            <a:ext cx="3931920" cy="210312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【下段制御基板】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DIP設定：0 0 1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（スレーブ・同期受信・通常モード）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機能：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・上段との同期受信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・PWM波形生成（同期）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・電流検出＆フィードバック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・異常検出＆通知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システム仕様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</a:defRPr>
            </a:pPr>
            <a:r>
              <a:t>■ 入出力仕様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4114800" cy="182880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【</a:t>
            </a:r>
            <a:r>
              <a:rPr dirty="0" err="1"/>
              <a:t>入力</a:t>
            </a:r>
            <a:r>
              <a:rPr dirty="0"/>
              <a:t>】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・電圧：DC48V ±10%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・最大入力電流：上下段各65A（合計130A）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・最大入力電力：6240W（DC48V×130A）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【</a:t>
            </a:r>
            <a:r>
              <a:rPr dirty="0" err="1"/>
              <a:t>出力</a:t>
            </a:r>
            <a:r>
              <a:rPr dirty="0"/>
              <a:t>】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・電圧：AC100V ±5%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・周波数：50/60Hz（選択）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・最大出力電力：3000W（上下段合計1500W×2）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・波形：純正弦波（THD≦3%）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</a:defRPr>
            </a:pPr>
            <a:r>
              <a:t>■ パフォーマンス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371600"/>
            <a:ext cx="4114800" cy="182880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■ 変換効率：≧92%（推定）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・DC/DC昇圧段：～95%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・Hブリッジ逆変換：～97%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・トランス＆フィルタ損失：～98%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■ 応答速度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・起動時間：＜500ms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・同期ロック時間：＜100ms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・異常検出：リアルタイム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■ 冷却：強制空冷または自然対流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</a:defRPr>
            </a:pPr>
            <a:r>
              <a:t>■ 動作仕様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749039"/>
            <a:ext cx="8412480" cy="2486446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■ </a:t>
            </a:r>
            <a:r>
              <a:rPr dirty="0" err="1"/>
              <a:t>動作環境</a:t>
            </a: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</a:t>
            </a:r>
            <a:r>
              <a:rPr dirty="0" err="1"/>
              <a:t>温度範囲</a:t>
            </a:r>
            <a:r>
              <a:rPr dirty="0"/>
              <a:t>：-10℃～+50℃（推奨0～40℃）  ・湿度範囲：20～80%（</a:t>
            </a:r>
            <a:r>
              <a:rPr dirty="0" err="1"/>
              <a:t>結露なし</a:t>
            </a:r>
            <a:r>
              <a:rPr dirty="0"/>
              <a:t>）  ・</a:t>
            </a:r>
            <a:r>
              <a:rPr dirty="0" err="1"/>
              <a:t>高度</a:t>
            </a:r>
            <a:r>
              <a:rPr dirty="0"/>
              <a:t>：＜2000m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■ </a:t>
            </a:r>
            <a:r>
              <a:rPr dirty="0" err="1"/>
              <a:t>保護機能</a:t>
            </a: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</a:t>
            </a:r>
            <a:r>
              <a:rPr dirty="0" err="1"/>
              <a:t>過電流保護：全出力ラインに実装（自動シャットダウン</a:t>
            </a:r>
            <a:r>
              <a:rPr dirty="0"/>
              <a:t>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</a:t>
            </a:r>
            <a:r>
              <a:rPr dirty="0" err="1"/>
              <a:t>過温度保護：温度センサで監視（警告→シャットダウン</a:t>
            </a:r>
            <a:r>
              <a:rPr dirty="0"/>
              <a:t>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・低入力電圧保護：DC48V＜43.2V時に遮断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・同期エラー保護：CN2通信断時に下段自動OFF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</a:t>
            </a:r>
            <a:r>
              <a:rPr dirty="0" err="1"/>
              <a:t>異常通知：ブザ</a:t>
            </a:r>
            <a:r>
              <a:rPr dirty="0"/>
              <a:t>ー＆</a:t>
            </a:r>
            <a:r>
              <a:rPr dirty="0" err="1"/>
              <a:t>LED表示で即座に表示</a:t>
            </a: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■ </a:t>
            </a:r>
            <a:r>
              <a:rPr dirty="0" err="1"/>
              <a:t>絶縁耐圧</a:t>
            </a:r>
            <a:endParaRPr dirty="0"/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・入力～出力間：DC3000V, 1分間（安全基準対応）</a:t>
            </a: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rPr dirty="0"/>
              <a:t>・信号回路間：DC500V, 1分間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707</Words>
  <Application>Microsoft Office PowerPoint</Application>
  <PresentationFormat>画面に合わせる (4:3)</PresentationFormat>
  <Paragraphs>187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Tomoko Hasegawa</cp:lastModifiedBy>
  <cp:revision>3</cp:revision>
  <dcterms:created xsi:type="dcterms:W3CDTF">2013-01-27T09:14:16Z</dcterms:created>
  <dcterms:modified xsi:type="dcterms:W3CDTF">2026-09-05T17:15:48Z</dcterms:modified>
  <cp:category/>
</cp:coreProperties>
</file>